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4E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emsi.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65760"/>
            <a:ext cx="2951556" cy="731520"/>
          </a:xfrm>
          <a:prstGeom prst="rect">
            <a:avLst/>
          </a:prstGeom>
        </p:spPr>
      </p:pic>
      <p:pic>
        <p:nvPicPr>
          <p:cNvPr id="3" name="Picture 2" descr="logo_honor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495" y="365760"/>
            <a:ext cx="121920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64592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A7F3D0"/>
                </a:solidFill>
                <a:latin typeface="Georgia"/>
              </a:defRPr>
            </a:pPr>
            <a:r>
              <a:t>TASTIFY</a:t>
            </a:r>
          </a:p>
          <a:p>
            <a:pPr>
              <a:spcBef>
                <a:spcPts val="1000"/>
              </a:spcBef>
              <a:defRPr sz="2800" b="1">
                <a:solidFill>
                  <a:srgbClr val="FFFFFF"/>
                </a:solidFill>
                <a:latin typeface="Georgia"/>
              </a:defRPr>
            </a:pPr>
            <a:r>
              <a:t>ERP Intelligent pour la Gestion des Restaurants Marocains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  <a:latin typeface="Calibri"/>
              </a:defRPr>
            </a:pPr>
            <a:r>
              <a:t>Présentation du Projet de Fin d'Année (PFA)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Présenté par : Mehdi Diouri &amp; Ibtihal El kherazi</a:t>
            </a:r>
          </a:p>
          <a:p>
            <a:pPr>
              <a:spcBef>
                <a:spcPts val="800"/>
              </a:spcBef>
              <a:defRPr sz="1400">
                <a:solidFill>
                  <a:srgbClr val="A7F3D0"/>
                </a:solidFill>
                <a:latin typeface="Calibri"/>
              </a:defRPr>
            </a:pPr>
            <a:r>
              <a:t>École Marocaine des Sciences de l'Ingénieur (EMSI)</a:t>
            </a:r>
            <a:br/>
            <a:r>
              <a:t>Honoris United Universities | Juin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047857"/>
                </a:solidFill>
                <a:latin typeface="Georgia"/>
              </a:defRPr>
            </a:pPr>
            <a:r>
              <a:t>Sommaire de la Présentation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51206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64E3B"/>
                </a:solidFill>
                <a:latin typeface="Calibri"/>
              </a:defRPr>
            </a:pPr>
            <a:r>
              <a:t>1. Introduction &amp; Contexte</a:t>
            </a:r>
          </a:p>
          <a:p>
            <a:pPr>
              <a:spcAft>
                <a:spcPts val="1200"/>
              </a:spcAft>
              <a:defRPr sz="2000">
                <a:solidFill>
                  <a:srgbClr val="064E3B"/>
                </a:solidFill>
                <a:latin typeface="Calibri"/>
              </a:defRPr>
            </a:pPr>
            <a:r>
              <a:t>2. Problématique Métier et Technique</a:t>
            </a:r>
          </a:p>
          <a:p>
            <a:pPr>
              <a:spcAft>
                <a:spcPts val="1200"/>
              </a:spcAft>
              <a:defRPr sz="2000">
                <a:solidFill>
                  <a:srgbClr val="064E3B"/>
                </a:solidFill>
                <a:latin typeface="Calibri"/>
              </a:defRPr>
            </a:pPr>
            <a:r>
              <a:t>3. Étude de l'Existant &amp; Positionnement</a:t>
            </a:r>
          </a:p>
          <a:p>
            <a:pPr>
              <a:spcAft>
                <a:spcPts val="1200"/>
              </a:spcAft>
              <a:defRPr sz="2000">
                <a:solidFill>
                  <a:srgbClr val="064E3B"/>
                </a:solidFill>
                <a:latin typeface="Calibri"/>
              </a:defRPr>
            </a:pPr>
            <a:r>
              <a:t>4. Solution Proposée : Tastify</a:t>
            </a:r>
          </a:p>
          <a:p>
            <a:pPr>
              <a:spcAft>
                <a:spcPts val="1200"/>
              </a:spcAft>
              <a:defRPr sz="2000">
                <a:solidFill>
                  <a:srgbClr val="064E3B"/>
                </a:solidFill>
                <a:latin typeface="Calibri"/>
              </a:defRPr>
            </a:pPr>
            <a:r>
              <a:t>5. Conception &amp; Modélisation UML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828800"/>
            <a:ext cx="51206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64E3B"/>
                </a:solidFill>
                <a:latin typeface="Calibri"/>
              </a:defRPr>
            </a:pPr>
            <a:r>
              <a:t>6. Réalisation du Pipeline IA &amp; Modèles</a:t>
            </a:r>
          </a:p>
          <a:p>
            <a:pPr>
              <a:spcAft>
                <a:spcPts val="1200"/>
              </a:spcAft>
              <a:defRPr sz="2000">
                <a:solidFill>
                  <a:srgbClr val="064E3B"/>
                </a:solidFill>
                <a:latin typeface="Calibri"/>
              </a:defRPr>
            </a:pPr>
            <a:r>
              <a:t>7. Modèles de Deep Learning retenus</a:t>
            </a:r>
          </a:p>
          <a:p>
            <a:pPr>
              <a:spcAft>
                <a:spcPts val="1200"/>
              </a:spcAft>
              <a:defRPr sz="2000">
                <a:solidFill>
                  <a:srgbClr val="064E3B"/>
                </a:solidFill>
                <a:latin typeface="Calibri"/>
              </a:defRPr>
            </a:pPr>
            <a:r>
              <a:t>8. Comparaison des Résultats &amp; Métriques</a:t>
            </a:r>
          </a:p>
          <a:p>
            <a:pPr>
              <a:spcAft>
                <a:spcPts val="1200"/>
              </a:spcAft>
              <a:defRPr sz="2000">
                <a:solidFill>
                  <a:srgbClr val="064E3B"/>
                </a:solidFill>
                <a:latin typeface="Calibri"/>
              </a:defRPr>
            </a:pPr>
            <a:r>
              <a:t>9. Défis techniques &amp; Solutions</a:t>
            </a:r>
          </a:p>
          <a:p>
            <a:pPr>
              <a:spcAft>
                <a:spcPts val="1200"/>
              </a:spcAft>
              <a:defRPr sz="2000">
                <a:solidFill>
                  <a:srgbClr val="064E3B"/>
                </a:solidFill>
                <a:latin typeface="Calibri"/>
              </a:defRPr>
            </a:pPr>
            <a:r>
              <a:t>10. Conclusion &amp; Perspectives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6E78"/>
                </a:solidFill>
                <a:latin typeface="Calibri"/>
              </a:defRPr>
            </a:pPr>
            <a:r>
              <a:t>Soutenance PFA - Tastify | Agenda                 Mehdi Diouri &amp; Ibtihal El kherazi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63640"/>
            <a:ext cx="1069848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047857"/>
                </a:solidFill>
                <a:latin typeface="Georgia"/>
              </a:defRPr>
            </a:pPr>
            <a:r>
              <a:t>1. Introduction : Contexte de la Restauration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64E3B"/>
                </a:solidFill>
                <a:latin typeface="Calibri"/>
              </a:defRPr>
            </a:pPr>
            <a:r>
              <a:t>Rythme opérationnel intense et multi-acteurs :</a:t>
            </a:r>
          </a:p>
          <a:p>
            <a:pPr lvl="1">
              <a:spcAft>
                <a:spcPts val="600"/>
              </a:spcAft>
              <a:defRPr sz="1600">
                <a:solidFill>
                  <a:srgbClr val="064E3B"/>
                </a:solidFill>
                <a:latin typeface="Calibri"/>
              </a:defRPr>
            </a:pPr>
            <a:r>
              <a:t>Coordination critique entre la salle (serveur) et la cuisine (cuisinier).</a:t>
            </a:r>
          </a:p>
          <a:p>
            <a:pPr lvl="1">
              <a:spcAft>
                <a:spcPts val="600"/>
              </a:spcAft>
              <a:defRPr sz="1600">
                <a:solidFill>
                  <a:srgbClr val="064E3B"/>
                </a:solidFill>
                <a:latin typeface="Calibri"/>
              </a:defRPr>
            </a:pPr>
            <a:r>
              <a:t>Dépendances en cascade : Table libre -&gt; Prise de commande -&gt; Préparation -&gt; Stock -&gt; Paiement.</a:t>
            </a:r>
          </a:p>
          <a:p>
            <a:pPr>
              <a:spcAft>
                <a:spcPts val="1200"/>
              </a:spcAft>
              <a:defRPr sz="1800">
                <a:solidFill>
                  <a:srgbClr val="064E3B"/>
                </a:solidFill>
                <a:latin typeface="Calibri"/>
              </a:defRPr>
            </a:pPr>
            <a:r>
              <a:t>Problème de la dispersion des données dans les restaurants :</a:t>
            </a:r>
          </a:p>
          <a:p>
            <a:pPr lvl="1">
              <a:spcAft>
                <a:spcPts val="600"/>
              </a:spcAft>
              <a:defRPr sz="1600">
                <a:solidFill>
                  <a:srgbClr val="064E3B"/>
                </a:solidFill>
                <a:latin typeface="Calibri"/>
              </a:defRPr>
            </a:pPr>
            <a:r>
              <a:t>Utilisation fréquente de carnets papier ou de logiciels isolés non synchronisés.</a:t>
            </a:r>
          </a:p>
          <a:p>
            <a:pPr lvl="1">
              <a:spcAft>
                <a:spcPts val="600"/>
              </a:spcAft>
              <a:defRPr sz="1600">
                <a:solidFill>
                  <a:srgbClr val="064E3B"/>
                </a:solidFill>
                <a:latin typeface="Calibri"/>
              </a:defRPr>
            </a:pPr>
            <a:r>
              <a:t>Perte de temps, risques d'erreurs de commande, gestion de stocks réactive (ruptures).</a:t>
            </a:r>
          </a:p>
          <a:p>
            <a:pPr>
              <a:spcAft>
                <a:spcPts val="1200"/>
              </a:spcAft>
              <a:defRPr sz="1800">
                <a:solidFill>
                  <a:srgbClr val="064E3B"/>
                </a:solidFill>
                <a:latin typeface="Calibri"/>
              </a:defRPr>
            </a:pPr>
            <a:r>
              <a:t>La voix du client au cœur de la réputation :</a:t>
            </a:r>
          </a:p>
          <a:p>
            <a:pPr lvl="1">
              <a:spcAft>
                <a:spcPts val="600"/>
              </a:spcAft>
              <a:defRPr sz="1600">
                <a:solidFill>
                  <a:srgbClr val="064E3B"/>
                </a:solidFill>
                <a:latin typeface="Calibri"/>
              </a:defRPr>
            </a:pPr>
            <a:r>
              <a:t>Importance croissante des commentaires textuels en ligne pour adapter la carte.</a:t>
            </a:r>
          </a:p>
          <a:p>
            <a:pPr lvl="1">
              <a:spcAft>
                <a:spcPts val="600"/>
              </a:spcAft>
              <a:defRPr sz="1600">
                <a:solidFill>
                  <a:srgbClr val="064E3B"/>
                </a:solidFill>
                <a:latin typeface="Calibri"/>
              </a:defRPr>
            </a:pPr>
            <a:r>
              <a:t>Besoin de capter automatiquement les avis rédigés en dialecte local (Darija) ou français.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3200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46E78"/>
                </a:solidFill>
              </a:defRPr>
            </a:pPr>
            <a:r>
              <a:t>[Schéma de flux : Salle ➔ Cuisine ➔ Stocks ➔ Avis Client]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6E78"/>
                </a:solidFill>
                <a:latin typeface="Calibri"/>
              </a:defRPr>
            </a:pPr>
            <a:r>
              <a:t>Soutenance PFA - Tastify | 1. Introduction                 Mehdi Diouri &amp; Ibtihal El kherazi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63640"/>
            <a:ext cx="1069848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047857"/>
                </a:solidFill>
                <a:latin typeface="Georgia"/>
              </a:defRPr>
            </a:pPr>
            <a:r>
              <a:t>2. Problématique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64E3B"/>
                </a:solidFill>
                <a:latin typeface="Calibri"/>
              </a:defRPr>
            </a:pPr>
            <a:r>
              <a:t>Question centrale de recherche et développement :</a:t>
            </a:r>
          </a:p>
          <a:p>
            <a:pPr>
              <a:spcAft>
                <a:spcPts val="1200"/>
              </a:spcAft>
              <a:defRPr sz="1800">
                <a:solidFill>
                  <a:srgbClr val="064E3B"/>
                </a:solidFill>
                <a:latin typeface="Calibri"/>
              </a:defRPr>
            </a:pPr>
            <a:r>
              <a:t>Comment concevoir un ERP web centralisé, réactif et modulaire permettant d'optimiser les opérations d'un restaurant marocain tout en exploitant automatiquement l'analyse des avis clients ?</a:t>
            </a:r>
          </a:p>
          <a:p>
            <a:pPr>
              <a:spcAft>
                <a:spcPts val="1200"/>
              </a:spcAft>
              <a:defRPr sz="1800">
                <a:solidFill>
                  <a:srgbClr val="064E3B"/>
                </a:solidFill>
                <a:latin typeface="Calibri"/>
              </a:defRPr>
            </a:pPr>
            <a:r>
              <a:t>Verrous techniques identifiés :</a:t>
            </a:r>
          </a:p>
          <a:p>
            <a:pPr lvl="1">
              <a:spcAft>
                <a:spcPts val="600"/>
              </a:spcAft>
              <a:defRPr sz="1600">
                <a:solidFill>
                  <a:srgbClr val="064E3B"/>
                </a:solidFill>
                <a:latin typeface="Calibri"/>
              </a:defRPr>
            </a:pPr>
            <a:r>
              <a:t>1. Séparation stricte des accès : Rôles distincts (Gérant, Serveur, Cuisinier, Client) sur des interfaces dédiées sans conflits de session.</a:t>
            </a:r>
          </a:p>
          <a:p>
            <a:pPr lvl="1">
              <a:spcAft>
                <a:spcPts val="600"/>
              </a:spcAft>
              <a:defRPr sz="1600">
                <a:solidFill>
                  <a:srgbClr val="064E3B"/>
                </a:solidFill>
                <a:latin typeface="Calibri"/>
              </a:defRPr>
            </a:pPr>
            <a:r>
              <a:t>2. Réactivité temps réel : Envoi instantané des commandes en cuisine sans rechargement de page (latence proche de zéro).</a:t>
            </a:r>
          </a:p>
          <a:p>
            <a:pPr lvl="1">
              <a:spcAft>
                <a:spcPts val="600"/>
              </a:spcAft>
              <a:defRPr sz="1600">
                <a:solidFill>
                  <a:srgbClr val="064E3B"/>
                </a:solidFill>
                <a:latin typeface="Calibri"/>
              </a:defRPr>
            </a:pPr>
            <a:r>
              <a:t>3. Modélisation complexe : Maintien de la traçabilité des stocks selon les recettes complexes et mouvements physiques.</a:t>
            </a:r>
          </a:p>
          <a:p>
            <a:pPr lvl="1">
              <a:spcAft>
                <a:spcPts val="600"/>
              </a:spcAft>
              <a:defRPr sz="1600">
                <a:solidFill>
                  <a:srgbClr val="064E3B"/>
                </a:solidFill>
                <a:latin typeface="Calibri"/>
              </a:defRPr>
            </a:pPr>
            <a:r>
              <a:t>4. Traitement multilingue asynchrone : Traiter des textes en Darija, arabe classique, français et anglais sans ralentir la création d'avis.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6E78"/>
                </a:solidFill>
                <a:latin typeface="Calibri"/>
              </a:defRPr>
            </a:pPr>
            <a:r>
              <a:t>Soutenance PFA - Tastify | 2. Problématique                 Mehdi Diouri &amp; Ibtihal El kherazi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63640"/>
            <a:ext cx="1069848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047857"/>
                </a:solidFill>
                <a:latin typeface="Georgia"/>
              </a:defRPr>
            </a:pPr>
            <a:r>
              <a:t>3. Étude de l'Existant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26080"/>
                <a:gridCol w="2926080"/>
                <a:gridCol w="2834640"/>
              </a:tblGrid>
              <a:tr h="694944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Solution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Points forts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Limites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Lecture pour Tastify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64E3B"/>
                          </a:solidFill>
                          <a:latin typeface="Calibri"/>
                        </a:defRPr>
                      </a:pPr>
                      <a:r>
                        <a:t>Lightspeed POS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64E3B"/>
                          </a:solidFill>
                          <a:latin typeface="Calibri"/>
                        </a:defRPr>
                      </a:pPr>
                      <a:r>
                        <a:t>Caisse fiable, rapports de vente complets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64E3B"/>
                          </a:solidFill>
                          <a:latin typeface="Calibri"/>
                        </a:defRPr>
                      </a:pPr>
                      <a:r>
                        <a:t>Coût élevé, matériel propriétaire, fermé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64E3B"/>
                          </a:solidFill>
                          <a:latin typeface="Calibri"/>
                        </a:defRPr>
                      </a:pPr>
                      <a:r>
                        <a:t>Confirme le besoin de centralisation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64E3B"/>
                          </a:solidFill>
                          <a:latin typeface="Calibri"/>
                        </a:defRPr>
                      </a:pPr>
                      <a:r>
                        <a:t>Toast POS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64E3B"/>
                          </a:solidFill>
                          <a:latin typeface="Calibri"/>
                        </a:defRPr>
                      </a:pPr>
                      <a:r>
                        <a:t>Très orienté restaurant, commandes et KDS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64E3B"/>
                          </a:solidFill>
                          <a:latin typeface="Calibri"/>
                        </a:defRPr>
                      </a:pPr>
                      <a:r>
                        <a:t>Indisponible/inadapté au marché local marocain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64E3B"/>
                          </a:solidFill>
                          <a:latin typeface="Calibri"/>
                        </a:defRPr>
                      </a:pPr>
                      <a:r>
                        <a:t>Montre l'importance du lien direct Salle-Cuisine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64E3B"/>
                          </a:solidFill>
                          <a:latin typeface="Calibri"/>
                        </a:defRPr>
                      </a:pPr>
                      <a:r>
                        <a:t>L'Addition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64E3B"/>
                          </a:solidFill>
                          <a:latin typeface="Calibri"/>
                        </a:defRPr>
                      </a:pPr>
                      <a:r>
                        <a:t>Service de caisse ergonomique sur tablette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64E3B"/>
                          </a:solidFill>
                          <a:latin typeface="Calibri"/>
                        </a:defRPr>
                      </a:pPr>
                      <a:r>
                        <a:t>Intégration limitée avec des stocks complexes/recettes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64E3B"/>
                          </a:solidFill>
                          <a:latin typeface="Calibri"/>
                        </a:defRPr>
                      </a:pPr>
                      <a:r>
                        <a:t>Justifie le besoin d'un ERP tout-en-un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64E3B"/>
                          </a:solidFill>
                          <a:latin typeface="Calibri"/>
                        </a:defRPr>
                      </a:pPr>
                      <a:r>
                        <a:t>Tastify (Notre PFA)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64E3B"/>
                          </a:solidFill>
                          <a:latin typeface="Calibri"/>
                        </a:defRPr>
                      </a:pPr>
                      <a:r>
                        <a:t>Modulaire, open source, KDS temps réel, IA multilingue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64E3B"/>
                          </a:solidFill>
                          <a:latin typeface="Calibri"/>
                        </a:defRPr>
                      </a:pPr>
                      <a:r>
                        <a:t>Prototype académique, pas de données de production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64E3B"/>
                          </a:solidFill>
                          <a:latin typeface="Calibri"/>
                        </a:defRPr>
                      </a:pPr>
                      <a:r>
                        <a:t>Idéal pour un déploiement souple et local (Docker)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30352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064E3B"/>
                </a:solidFill>
                <a:latin typeface="Calibri"/>
              </a:defRPr>
            </a:pPr>
            <a:r>
              <a:t>Conclusion de l'étude : Les solutions du marché sont puissantes mais onéreuses, fermées ou inadaptées au bilinguisme marocain. D'où la pertinence de concevoir un ERP modulaire adapté localement.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6E78"/>
                </a:solidFill>
                <a:latin typeface="Calibri"/>
              </a:defRPr>
            </a:pPr>
            <a:r>
              <a:t>Soutenance PFA - Tastify | 3. Étude de l'existant                 Mehdi Diouri &amp; Ibtihal El kherazi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63640"/>
            <a:ext cx="1069848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047857"/>
                </a:solidFill>
                <a:latin typeface="Georgia"/>
              </a:defRPr>
            </a:pPr>
            <a:r>
              <a:t>4. Solution Proposée : Tastify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1206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64E3B"/>
                </a:solidFill>
                <a:latin typeface="Calibri"/>
              </a:defRPr>
            </a:pPr>
            <a:r>
              <a:t>Architecture monorepo modulaire :</a:t>
            </a:r>
          </a:p>
          <a:p>
            <a:pPr lvl="1">
              <a:spcAft>
                <a:spcPts val="600"/>
              </a:spcAft>
              <a:defRPr sz="1600">
                <a:solidFill>
                  <a:srgbClr val="064E3B"/>
                </a:solidFill>
                <a:latin typeface="Calibri"/>
              </a:defRPr>
            </a:pPr>
            <a:r>
              <a:t>Un backend unifié en Django REST Framework (DRF) sécurisé par des jetons JWT.</a:t>
            </a:r>
          </a:p>
          <a:p>
            <a:pPr lvl="1">
              <a:spcAft>
                <a:spcPts val="600"/>
              </a:spcAft>
              <a:defRPr sz="1600">
                <a:solidFill>
                  <a:srgbClr val="064E3B"/>
                </a:solidFill>
                <a:latin typeface="Calibri"/>
              </a:defRPr>
            </a:pPr>
            <a:r>
              <a:t>Deux Single Page Applications (SPA) indépendantes en React + Vite + TS.</a:t>
            </a:r>
          </a:p>
          <a:p>
            <a:pPr>
              <a:spcAft>
                <a:spcPts val="1200"/>
              </a:spcAft>
              <a:defRPr sz="1800">
                <a:solidFill>
                  <a:srgbClr val="064E3B"/>
                </a:solidFill>
                <a:latin typeface="Calibri"/>
              </a:defRPr>
            </a:pPr>
            <a:r>
              <a:t>Modules métiers intégrés de bout en bout :</a:t>
            </a:r>
          </a:p>
          <a:p>
            <a:pPr lvl="1">
              <a:spcAft>
                <a:spcPts val="600"/>
              </a:spcAft>
              <a:defRPr sz="1600">
                <a:solidFill>
                  <a:srgbClr val="064E3B"/>
                </a:solidFill>
                <a:latin typeface="Calibri"/>
              </a:defRPr>
            </a:pPr>
            <a:r>
              <a:t>Salle : Prise de commande sur plan de table dynamique.</a:t>
            </a:r>
          </a:p>
          <a:p>
            <a:pPr lvl="1">
              <a:spcAft>
                <a:spcPts val="600"/>
              </a:spcAft>
              <a:defRPr sz="1600">
                <a:solidFill>
                  <a:srgbClr val="064E3B"/>
                </a:solidFill>
                <a:latin typeface="Calibri"/>
              </a:defRPr>
            </a:pPr>
            <a:r>
              <a:t>Cuisine : Kitchen Display System (KDS) synchronisé.</a:t>
            </a:r>
          </a:p>
          <a:p>
            <a:pPr lvl="1">
              <a:spcAft>
                <a:spcPts val="600"/>
              </a:spcAft>
              <a:defRPr sz="1600">
                <a:solidFill>
                  <a:srgbClr val="064E3B"/>
                </a:solidFill>
                <a:latin typeface="Calibri"/>
              </a:defRPr>
            </a:pPr>
            <a:r>
              <a:t>Stock : Déductions automatiques basées sur les recettes.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645920"/>
            <a:ext cx="51206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64E3B"/>
                </a:solidFill>
                <a:latin typeface="Calibri"/>
              </a:defRPr>
            </a:pPr>
            <a:r>
              <a:t>Temps réel et traitement asynchrone :</a:t>
            </a:r>
          </a:p>
          <a:p>
            <a:pPr lvl="1">
              <a:spcAft>
                <a:spcPts val="600"/>
              </a:spcAft>
              <a:defRPr sz="1600">
                <a:solidFill>
                  <a:srgbClr val="064E3B"/>
                </a:solidFill>
                <a:latin typeface="Calibri"/>
              </a:defRPr>
            </a:pPr>
            <a:r>
              <a:t>WebSockets via Django Channels et Redis pour notifier instantanément la cuisine.</a:t>
            </a:r>
          </a:p>
          <a:p>
            <a:pPr lvl="1">
              <a:spcAft>
                <a:spcPts val="600"/>
              </a:spcAft>
              <a:defRPr sz="1600">
                <a:solidFill>
                  <a:srgbClr val="064E3B"/>
                </a:solidFill>
                <a:latin typeface="Calibri"/>
              </a:defRPr>
            </a:pPr>
            <a:r>
              <a:t>Celery et Celery Beat pour les tâches de fond lourdes (mouvements de stocks et IA).</a:t>
            </a:r>
          </a:p>
          <a:p>
            <a:pPr>
              <a:spcAft>
                <a:spcPts val="1200"/>
              </a:spcAft>
              <a:defRPr sz="1800">
                <a:solidFill>
                  <a:srgbClr val="064E3B"/>
                </a:solidFill>
                <a:latin typeface="Calibri"/>
              </a:defRPr>
            </a:pPr>
            <a:r>
              <a:t>Pipeline IA de sentiments client :</a:t>
            </a:r>
          </a:p>
          <a:p>
            <a:pPr lvl="1">
              <a:spcAft>
                <a:spcPts val="600"/>
              </a:spcAft>
              <a:defRPr sz="1600">
                <a:solidFill>
                  <a:srgbClr val="064E3B"/>
                </a:solidFill>
                <a:latin typeface="Calibri"/>
              </a:defRPr>
            </a:pPr>
            <a:r>
              <a:t>Détection automatique de la langue des commentaires.</a:t>
            </a:r>
          </a:p>
          <a:p>
            <a:pPr lvl="1">
              <a:spcAft>
                <a:spcPts val="600"/>
              </a:spcAft>
              <a:defRPr sz="1600">
                <a:solidFill>
                  <a:srgbClr val="064E3B"/>
                </a:solidFill>
                <a:latin typeface="Calibri"/>
              </a:defRPr>
            </a:pPr>
            <a:r>
              <a:t>Inférence par Transformers distants (Hugging Face).</a:t>
            </a:r>
          </a:p>
          <a:p>
            <a:pPr lvl="1">
              <a:spcAft>
                <a:spcPts val="600"/>
              </a:spcAft>
              <a:defRPr sz="1600">
                <a:solidFill>
                  <a:srgbClr val="064E3B"/>
                </a:solidFill>
                <a:latin typeface="Calibri"/>
              </a:defRPr>
            </a:pPr>
            <a:r>
              <a:t>Heuristique locale pour garantir la résilience hors-ligne.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6E78"/>
                </a:solidFill>
                <a:latin typeface="Calibri"/>
              </a:defRPr>
            </a:pPr>
            <a:r>
              <a:t>Soutenance PFA - Tastify | 4. Solution Proposée                 Mehdi Diouri &amp; Ibtihal El kherazi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63640"/>
            <a:ext cx="1069848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047857"/>
                </a:solidFill>
                <a:latin typeface="Georgia"/>
              </a:defRPr>
            </a:pPr>
            <a:r>
              <a:t>5. Conception : Acteurs &amp; Cas d'Utilisation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064E3B"/>
                </a:solidFill>
                <a:latin typeface="Calibri"/>
              </a:defRPr>
            </a:pPr>
            <a:r>
              <a:t>Quatre acteurs clés gérés par un système d'accès RBAC :</a:t>
            </a:r>
          </a:p>
          <a:p>
            <a:pPr lvl="1">
              <a:spcAft>
                <a:spcPts val="600"/>
              </a:spcAft>
              <a:defRPr sz="1300">
                <a:solidFill>
                  <a:srgbClr val="064E3B"/>
                </a:solidFill>
                <a:latin typeface="Calibri"/>
              </a:defRPr>
            </a:pPr>
            <a:r>
              <a:t>Gérant : Supervise le menu, les stocks, la configuration visuelle, les RH (employés/shifts) et les rapports financiers.</a:t>
            </a:r>
          </a:p>
          <a:p>
            <a:pPr lvl="1">
              <a:spcAft>
                <a:spcPts val="600"/>
              </a:spcAft>
              <a:defRPr sz="1300">
                <a:solidFill>
                  <a:srgbClr val="064E3B"/>
                </a:solidFill>
                <a:latin typeface="Calibri"/>
              </a:defRPr>
            </a:pPr>
            <a:r>
              <a:t>Serveur : Consulte le plan de salle dynamique, affecte les clients aux tables, prend les commandes et gère l'addition.</a:t>
            </a:r>
          </a:p>
          <a:p>
            <a:pPr lvl="1">
              <a:spcAft>
                <a:spcPts val="600"/>
              </a:spcAft>
              <a:defRPr sz="1300">
                <a:solidFill>
                  <a:srgbClr val="064E3B"/>
                </a:solidFill>
                <a:latin typeface="Calibri"/>
              </a:defRPr>
            </a:pPr>
            <a:r>
              <a:t>Cuisinier : Visualise l'écran KDS, prend en charge les plats et notifie le serveur de la fin de préparation.</a:t>
            </a:r>
          </a:p>
          <a:p>
            <a:pPr lvl="1">
              <a:spcAft>
                <a:spcPts val="600"/>
              </a:spcAft>
              <a:defRPr sz="1300">
                <a:solidFill>
                  <a:srgbClr val="064E3B"/>
                </a:solidFill>
                <a:latin typeface="Calibri"/>
              </a:defRPr>
            </a:pPr>
            <a:r>
              <a:t>Client : Consulte le menu, réserve une table en ligne, effectue le paiement (QR/carte/espèces) et soumet un avis.</a:t>
            </a:r>
          </a:p>
          <a:p>
            <a:pPr>
              <a:spcAft>
                <a:spcPts val="1200"/>
              </a:spcAft>
              <a:defRPr sz="1500">
                <a:solidFill>
                  <a:srgbClr val="064E3B"/>
                </a:solidFill>
                <a:latin typeface="Calibri"/>
              </a:defRPr>
            </a:pPr>
            <a:r>
              <a:t>Modélisation UML (Cas d'utilisation critiques) :</a:t>
            </a:r>
          </a:p>
          <a:p>
            <a:pPr lvl="1">
              <a:spcAft>
                <a:spcPts val="600"/>
              </a:spcAft>
              <a:defRPr sz="1300">
                <a:solidFill>
                  <a:srgbClr val="064E3B"/>
                </a:solidFill>
                <a:latin typeface="Calibri"/>
              </a:defRPr>
            </a:pPr>
            <a:r>
              <a:t>Les diagrammes UML structurent le cycle de vie de la commande (Salle ➔ Cuisine) et la réconciliation des paiements.</a:t>
            </a:r>
          </a:p>
        </p:txBody>
      </p:sp>
      <p:pic>
        <p:nvPicPr>
          <p:cNvPr id="4" name="Picture 3" descr="figur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029200" cy="33821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6E78"/>
                </a:solidFill>
                <a:latin typeface="Calibri"/>
              </a:defRPr>
            </a:pPr>
            <a:r>
              <a:t>Soutenance PFA - Tastify | 5. Conception                 Mehdi Diouri &amp; Ibtihal El kherazi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63640"/>
            <a:ext cx="1069848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047857"/>
                </a:solidFill>
                <a:latin typeface="Georgia"/>
              </a:defRPr>
            </a:pPr>
            <a:r>
              <a:t>5. Conception : Diagramme de Classes UML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064E3B"/>
                </a:solidFill>
                <a:latin typeface="Calibri"/>
              </a:defRPr>
            </a:pPr>
            <a:r>
              <a:t>Modélisation objet du système relationnel Tastify :</a:t>
            </a:r>
          </a:p>
          <a:p>
            <a:pPr lvl="1">
              <a:spcAft>
                <a:spcPts val="600"/>
              </a:spcAft>
              <a:defRPr sz="1300">
                <a:solidFill>
                  <a:srgbClr val="064E3B"/>
                </a:solidFill>
                <a:latin typeface="Calibri"/>
              </a:defRPr>
            </a:pPr>
            <a:r>
              <a:t>Utilisateur : Gère les comptes et la séparation de rôles (RBAC).</a:t>
            </a:r>
          </a:p>
          <a:p>
            <a:pPr lvl="1">
              <a:spcAft>
                <a:spcPts val="600"/>
              </a:spcAft>
              <a:defRPr sz="1300">
                <a:solidFill>
                  <a:srgbClr val="064E3B"/>
                </a:solidFill>
                <a:latin typeface="Calibri"/>
              </a:defRPr>
            </a:pPr>
            <a:r>
              <a:t>Commande &amp; CommandeLigne : Encapsule la commande, les lignes, et fige les prix unitaires.</a:t>
            </a:r>
          </a:p>
          <a:p>
            <a:pPr lvl="1">
              <a:spcAft>
                <a:spcPts val="600"/>
              </a:spcAft>
              <a:defRPr sz="1300">
                <a:solidFill>
                  <a:srgbClr val="064E3B"/>
                </a:solidFill>
                <a:latin typeface="Calibri"/>
              </a:defRPr>
            </a:pPr>
            <a:r>
              <a:t>Plat &amp; Recette &amp; Ingredient : Mappe les plats de la carte aux ingrédients physiques en stock.</a:t>
            </a:r>
          </a:p>
          <a:p>
            <a:pPr lvl="1">
              <a:spcAft>
                <a:spcPts val="600"/>
              </a:spcAft>
              <a:defRPr sz="1300">
                <a:solidFill>
                  <a:srgbClr val="064E3B"/>
                </a:solidFill>
                <a:latin typeface="Calibri"/>
              </a:defRPr>
            </a:pPr>
            <a:r>
              <a:t>Avis &amp; AnalyseSentiment : Enregistre le retour client et l'analyse asynchrone (relation 1-to-1).</a:t>
            </a:r>
          </a:p>
          <a:p>
            <a:pPr lvl="1">
              <a:spcAft>
                <a:spcPts val="600"/>
              </a:spcAft>
              <a:defRPr sz="1300">
                <a:solidFill>
                  <a:srgbClr val="064E3B"/>
                </a:solidFill>
                <a:latin typeface="Calibri"/>
              </a:defRPr>
            </a:pPr>
            <a:r>
              <a:t>LoyaltyProfile &amp; Transaction &amp; Reward : Gère les points de fidélité et récompenses associées.</a:t>
            </a:r>
          </a:p>
        </p:txBody>
      </p:sp>
      <p:pic>
        <p:nvPicPr>
          <p:cNvPr id="4" name="Picture 3" descr="figur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029200" cy="22660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6E78"/>
                </a:solidFill>
                <a:latin typeface="Calibri"/>
              </a:defRPr>
            </a:pPr>
            <a:r>
              <a:t>Soutenance PFA - Tastify | 5. Conception                 Mehdi Diouri &amp; Ibtihal El kherazi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63640"/>
            <a:ext cx="1069848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047857"/>
                </a:solidFill>
                <a:latin typeface="Georgia"/>
              </a:defRPr>
            </a:pPr>
            <a:r>
              <a:t>5. Conception : Architecture &amp; Modèle de Données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1206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64E3B"/>
                </a:solidFill>
                <a:latin typeface="Calibri"/>
              </a:defRPr>
            </a:pPr>
            <a:r>
              <a:t>Architecture Applicative Cible :</a:t>
            </a:r>
          </a:p>
          <a:p>
            <a:pPr lvl="1">
              <a:spcAft>
                <a:spcPts val="600"/>
              </a:spcAft>
              <a:defRPr sz="1600">
                <a:solidFill>
                  <a:srgbClr val="064E3B"/>
                </a:solidFill>
                <a:latin typeface="Calibri"/>
              </a:defRPr>
            </a:pPr>
            <a:r>
              <a:t>Séparation stricte des responsabilités (MVC au backend, SPA autonomes au frontend).</a:t>
            </a:r>
          </a:p>
          <a:p>
            <a:pPr lvl="1">
              <a:spcAft>
                <a:spcPts val="600"/>
              </a:spcAft>
              <a:defRPr sz="1600">
                <a:solidFill>
                  <a:srgbClr val="064E3B"/>
                </a:solidFill>
                <a:latin typeface="Calibri"/>
              </a:defRPr>
            </a:pPr>
            <a:r>
              <a:t>API REST documentée sous Swagger OpenAPI (drf-spectacular) pour le typage des requêtes.</a:t>
            </a:r>
          </a:p>
          <a:p>
            <a:pPr>
              <a:spcAft>
                <a:spcPts val="1200"/>
              </a:spcAft>
              <a:defRPr sz="1800">
                <a:solidFill>
                  <a:srgbClr val="064E3B"/>
                </a:solidFill>
                <a:latin typeface="Calibri"/>
              </a:defRPr>
            </a:pPr>
            <a:r>
              <a:t>Découplage événementiel :</a:t>
            </a:r>
          </a:p>
          <a:p>
            <a:pPr lvl="1">
              <a:spcAft>
                <a:spcPts val="600"/>
              </a:spcAft>
              <a:defRPr sz="1600">
                <a:solidFill>
                  <a:srgbClr val="064E3B"/>
                </a:solidFill>
                <a:latin typeface="Calibri"/>
              </a:defRPr>
            </a:pPr>
            <a:r>
              <a:t>Les signaux Django orchestrent les actions synchrones (ex : recalcul du prix total d'une commande).</a:t>
            </a:r>
          </a:p>
          <a:p>
            <a:pPr lvl="1">
              <a:spcAft>
                <a:spcPts val="600"/>
              </a:spcAft>
              <a:defRPr sz="1600">
                <a:solidFill>
                  <a:srgbClr val="064E3B"/>
                </a:solidFill>
                <a:latin typeface="Calibri"/>
              </a:defRPr>
            </a:pPr>
            <a:r>
              <a:t>Celery isole les écritures lentes (ex : mise à jour des statistiques analytiques complexes).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645920"/>
            <a:ext cx="51206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64E3B"/>
                </a:solidFill>
                <a:latin typeface="Calibri"/>
              </a:defRPr>
            </a:pPr>
            <a:r>
              <a:t>Tables clés du Modèle Logique de Données (MLD) :</a:t>
            </a:r>
          </a:p>
          <a:p>
            <a:pPr lvl="1">
              <a:spcAft>
                <a:spcPts val="600"/>
              </a:spcAft>
              <a:defRPr sz="1600">
                <a:solidFill>
                  <a:srgbClr val="064E3B"/>
                </a:solidFill>
                <a:latin typeface="Calibri"/>
              </a:defRPr>
            </a:pPr>
            <a:r>
              <a:t>Utilisateur : Compte unifié avec attribut rôle (RBAC).</a:t>
            </a:r>
          </a:p>
          <a:p>
            <a:pPr lvl="1">
              <a:spcAft>
                <a:spcPts val="600"/>
              </a:spcAft>
              <a:defRPr sz="1600">
                <a:solidFill>
                  <a:srgbClr val="064E3B"/>
                </a:solidFill>
                <a:latin typeface="Calibri"/>
              </a:defRPr>
            </a:pPr>
            <a:r>
              <a:t>Commande &amp; CommandeLigne : Stockage de la commande et prix figé à la transaction pour éviter les drifts.</a:t>
            </a:r>
          </a:p>
          <a:p>
            <a:pPr lvl="1">
              <a:spcAft>
                <a:spcPts val="600"/>
              </a:spcAft>
              <a:defRPr sz="1600">
                <a:solidFill>
                  <a:srgbClr val="064E3B"/>
                </a:solidFill>
                <a:latin typeface="Calibri"/>
              </a:defRPr>
            </a:pPr>
            <a:r>
              <a:t>Plat &amp; Recette &amp; Ingredient : Structure de la carte avec liaison physique aux stocks.</a:t>
            </a:r>
          </a:p>
          <a:p>
            <a:pPr lvl="1">
              <a:spcAft>
                <a:spcPts val="600"/>
              </a:spcAft>
              <a:defRPr sz="1600">
                <a:solidFill>
                  <a:srgbClr val="064E3B"/>
                </a:solidFill>
                <a:latin typeface="Calibri"/>
              </a:defRPr>
            </a:pPr>
            <a:r>
              <a:t>Avis &amp; AnalyseSentiment : Stockage des commentaires et résultats de classification NLP (1-to-1).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6E78"/>
                </a:solidFill>
                <a:latin typeface="Calibri"/>
              </a:defRPr>
            </a:pPr>
            <a:r>
              <a:t>Soutenance PFA - Tastify | 5. Conception                 Mehdi Diouri &amp; Ibtihal El kherazi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63640"/>
            <a:ext cx="1069848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047857"/>
                </a:solidFill>
                <a:latin typeface="Georgia"/>
              </a:defRPr>
            </a:pPr>
            <a:r>
              <a:t>6. Réalisation : Base de Données du pipeline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64E3B"/>
                </a:solidFill>
                <a:latin typeface="Calibri"/>
              </a:defRPr>
            </a:pPr>
            <a:r>
              <a:t>Rôle de l'Analyse de Sentiment :</a:t>
            </a:r>
          </a:p>
          <a:p>
            <a:pPr lvl="1">
              <a:spcAft>
                <a:spcPts val="600"/>
              </a:spcAft>
              <a:defRPr sz="1600">
                <a:solidFill>
                  <a:srgbClr val="064E3B"/>
                </a:solidFill>
                <a:latin typeface="Calibri"/>
              </a:defRPr>
            </a:pPr>
            <a:r>
              <a:t>Traduire automatiquement des retours clients textuels en indicateurs simples (positif, neutre, négatif) pour le tableau de bord du gérant.</a:t>
            </a:r>
          </a:p>
          <a:p>
            <a:pPr>
              <a:spcAft>
                <a:spcPts val="1200"/>
              </a:spcAft>
              <a:defRPr sz="1800">
                <a:solidFill>
                  <a:srgbClr val="064E3B"/>
                </a:solidFill>
                <a:latin typeface="Calibri"/>
              </a:defRPr>
            </a:pPr>
            <a:r>
              <a:t>Tables de base de données impliquées (Avis &amp; Sentiment) :</a:t>
            </a:r>
          </a:p>
          <a:p>
            <a:pPr lvl="1">
              <a:spcAft>
                <a:spcPts val="600"/>
              </a:spcAft>
              <a:defRPr sz="1600">
                <a:solidFill>
                  <a:srgbClr val="064E3B"/>
                </a:solidFill>
                <a:latin typeface="Calibri"/>
              </a:defRPr>
            </a:pPr>
            <a:r>
              <a:t>Avis.commentaire : Entrée principale du texte libre (limité à 512 caractères dans Celery pour optimiser le temps d'inférence).</a:t>
            </a:r>
          </a:p>
          <a:p>
            <a:pPr lvl="1">
              <a:spcAft>
                <a:spcPts val="600"/>
              </a:spcAft>
              <a:defRPr sz="1600">
                <a:solidFill>
                  <a:srgbClr val="064E3B"/>
                </a:solidFill>
                <a:latin typeface="Calibri"/>
              </a:defRPr>
            </a:pPr>
            <a:r>
              <a:t>Avis.note : Note étoilée (1 à 5) conservée en base, mais le modèle se focalise sur le commentaire textuel pour extraire le sentiment réel.</a:t>
            </a:r>
          </a:p>
          <a:p>
            <a:pPr lvl="1">
              <a:spcAft>
                <a:spcPts val="600"/>
              </a:spcAft>
              <a:defRPr sz="1600">
                <a:solidFill>
                  <a:srgbClr val="064E3B"/>
                </a:solidFill>
                <a:latin typeface="Calibri"/>
              </a:defRPr>
            </a:pPr>
            <a:r>
              <a:t>AnalyseSentiment (Table de résultat liée 1-to-1 à l'Avis) :</a:t>
            </a:r>
          </a:p>
          <a:p>
            <a:pPr>
              <a:spcAft>
                <a:spcPts val="1200"/>
              </a:spcAft>
              <a:defRPr sz="1800">
                <a:solidFill>
                  <a:srgbClr val="064E3B"/>
                </a:solidFill>
                <a:latin typeface="Calibri"/>
              </a:defRPr>
            </a:pPr>
            <a:r>
              <a:t>  * label : POSITIF, NEUTRE ou NEGATIF.</a:t>
            </a:r>
          </a:p>
          <a:p>
            <a:pPr>
              <a:spcAft>
                <a:spcPts val="1200"/>
              </a:spcAft>
              <a:defRPr sz="1800">
                <a:solidFill>
                  <a:srgbClr val="064E3B"/>
                </a:solidFill>
                <a:latin typeface="Calibri"/>
              </a:defRPr>
            </a:pPr>
            <a:r>
              <a:t>  * score_brut : Score de confiance renvoyé par l'algorithme (float entre 0 et 1).</a:t>
            </a:r>
          </a:p>
          <a:p>
            <a:pPr>
              <a:spcAft>
                <a:spcPts val="1200"/>
              </a:spcAft>
              <a:defRPr sz="1800">
                <a:solidFill>
                  <a:srgbClr val="064E3B"/>
                </a:solidFill>
                <a:latin typeface="Calibri"/>
              </a:defRPr>
            </a:pPr>
            <a:r>
              <a:t>  * modele_utilise : Nom précis du modèle Hugging Face ou fallback local utilisé.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6E78"/>
                </a:solidFill>
                <a:latin typeface="Calibri"/>
              </a:defRPr>
            </a:pPr>
            <a:r>
              <a:t>Soutenance PFA - Tastify | 6. Pipeline IA                 Mehdi Diouri &amp; Ibtihal El kherazi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63640"/>
            <a:ext cx="1069848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047857"/>
                </a:solidFill>
                <a:latin typeface="Georgia"/>
              </a:defRPr>
            </a:pPr>
            <a:r>
              <a:t>6. Réalisation : Prétraitement et Routage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64E3B"/>
                </a:solidFill>
                <a:latin typeface="Calibri"/>
              </a:defRPr>
            </a:pPr>
            <a:r>
              <a:t>Détection automatique et routage de la langue :</a:t>
            </a:r>
          </a:p>
          <a:p>
            <a:pPr lvl="1">
              <a:spcAft>
                <a:spcPts val="600"/>
              </a:spcAft>
              <a:defRPr sz="1600">
                <a:solidFill>
                  <a:srgbClr val="064E3B"/>
                </a:solidFill>
                <a:latin typeface="Calibri"/>
              </a:defRPr>
            </a:pPr>
            <a:r>
              <a:t>L'application accepte les avis multilingues (arabe, français, anglais, espagnol...).</a:t>
            </a:r>
          </a:p>
          <a:p>
            <a:pPr lvl="1">
              <a:spcAft>
                <a:spcPts val="600"/>
              </a:spcAft>
              <a:defRPr sz="1600">
                <a:solidFill>
                  <a:srgbClr val="064E3B"/>
                </a:solidFill>
                <a:latin typeface="Calibri"/>
              </a:defRPr>
            </a:pPr>
            <a:r>
              <a:t>Une expression régulière (regex) analyse le texte pour détecter la présence de caractères de l'alphabet arabe (bloc Unicode \u0600-\u06FF).</a:t>
            </a:r>
          </a:p>
          <a:p>
            <a:pPr lvl="1">
              <a:spcAft>
                <a:spcPts val="600"/>
              </a:spcAft>
              <a:defRPr sz="1600">
                <a:solidFill>
                  <a:srgbClr val="064E3B"/>
                </a:solidFill>
                <a:latin typeface="Calibri"/>
              </a:defRPr>
            </a:pPr>
            <a:r>
              <a:t>Si détecté -&gt; routage vers la langue 'ar', sinon routage par défaut vers la langue 'en'.</a:t>
            </a:r>
          </a:p>
          <a:p>
            <a:pPr>
              <a:spcAft>
                <a:spcPts val="1200"/>
              </a:spcAft>
              <a:defRPr sz="1800">
                <a:solidFill>
                  <a:srgbClr val="064E3B"/>
                </a:solidFill>
                <a:latin typeface="Calibri"/>
              </a:defRPr>
            </a:pPr>
            <a:r>
              <a:t>Tokenisation des textes (Hugging Face Tokenizers) :</a:t>
            </a:r>
          </a:p>
          <a:p>
            <a:pPr lvl="1">
              <a:spcAft>
                <a:spcPts val="600"/>
              </a:spcAft>
              <a:defRPr sz="1600">
                <a:solidFill>
                  <a:srgbClr val="064E3B"/>
                </a:solidFill>
                <a:latin typeface="Calibri"/>
              </a:defRPr>
            </a:pPr>
            <a:r>
              <a:t>Conversion du texte brut en séquences de nombres (tokens) interprétables par les modèles deep learning.</a:t>
            </a:r>
          </a:p>
          <a:p>
            <a:pPr lvl="1">
              <a:spcAft>
                <a:spcPts val="600"/>
              </a:spcAft>
              <a:defRPr sz="1600">
                <a:solidFill>
                  <a:srgbClr val="064E3B"/>
                </a:solidFill>
                <a:latin typeface="Calibri"/>
              </a:defRPr>
            </a:pPr>
            <a:r>
              <a:t>Nettoyage et troncature automatique : Limitation stricte du vecteur d'entrée à 512 tokens pour éviter les débordements de mémoire lors de l'inférence.</a:t>
            </a:r>
          </a:p>
          <a:p>
            <a:pPr lvl="1">
              <a:spcAft>
                <a:spcPts val="600"/>
              </a:spcAft>
              <a:defRPr sz="1600">
                <a:solidFill>
                  <a:srgbClr val="064E3B"/>
                </a:solidFill>
                <a:latin typeface="Calibri"/>
              </a:defRPr>
            </a:pPr>
            <a:r>
              <a:t>Utilisation des tokenizers spécifiques : WordPiece pour BERT multilingue, SentencePiece pour MARBERT.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6E78"/>
                </a:solidFill>
                <a:latin typeface="Calibri"/>
              </a:defRPr>
            </a:pPr>
            <a:r>
              <a:t>Soutenance PFA - Tastify | 6. Pipeline IA                 Mehdi Diouri &amp; Ibtihal El kherazi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63640"/>
            <a:ext cx="1069848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047857"/>
                </a:solidFill>
                <a:latin typeface="Georgia"/>
              </a:defRPr>
            </a:pPr>
            <a:r>
              <a:t>6. Réalisation : Fine-tuning &amp; Fallback local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64E3B"/>
                </a:solidFill>
                <a:latin typeface="Calibri"/>
              </a:defRPr>
            </a:pPr>
            <a:r>
              <a:t>Modèle Principal (Français / Anglais) :</a:t>
            </a:r>
          </a:p>
          <a:p>
            <a:pPr lvl="1">
              <a:spcAft>
                <a:spcPts val="600"/>
              </a:spcAft>
              <a:defRPr sz="1600">
                <a:solidFill>
                  <a:srgbClr val="064E3B"/>
                </a:solidFill>
                <a:latin typeface="Calibri"/>
              </a:defRPr>
            </a:pPr>
            <a:r>
              <a:t>bert-base-multilingual-uncased-sentiment : Modèle BERT multilingue pré-entraîné par Google et affiné (fine-tuné) par NLP Town sur un grand corpus d'avis clients en 6 langues (dont le français et l'anglais). Renvoyait des notes de 1 à 5 étoiles, converties en 3 classes (Positif, Neutre, Négatif).</a:t>
            </a:r>
          </a:p>
          <a:p>
            <a:pPr>
              <a:spcAft>
                <a:spcPts val="1200"/>
              </a:spcAft>
              <a:defRPr sz="1800">
                <a:solidFill>
                  <a:srgbClr val="064E3B"/>
                </a:solidFill>
                <a:latin typeface="Calibri"/>
              </a:defRPr>
            </a:pPr>
            <a:r>
              <a:t>Modèle Arabe / Dialecte (Darija) :</a:t>
            </a:r>
          </a:p>
          <a:p>
            <a:pPr lvl="1">
              <a:spcAft>
                <a:spcPts val="600"/>
              </a:spcAft>
              <a:defRPr sz="1600">
                <a:solidFill>
                  <a:srgbClr val="064E3B"/>
                </a:solidFill>
                <a:latin typeface="Calibri"/>
              </a:defRPr>
            </a:pPr>
            <a:r>
              <a:t>moussaKam/MARBERT-sentiment : Modèle MARBERT (conçu pour l'arabe dialectal et le texte social) et affiné spécifiquement pour l'analyse d'opinion.</a:t>
            </a:r>
          </a:p>
          <a:p>
            <a:pPr>
              <a:spcAft>
                <a:spcPts val="1200"/>
              </a:spcAft>
              <a:defRPr sz="1800">
                <a:solidFill>
                  <a:srgbClr val="064E3B"/>
                </a:solidFill>
                <a:latin typeface="Calibri"/>
              </a:defRPr>
            </a:pPr>
            <a:r>
              <a:t>Fallback local heuristique (Résilience hors-ligne) :</a:t>
            </a:r>
          </a:p>
          <a:p>
            <a:pPr lvl="1">
              <a:spcAft>
                <a:spcPts val="600"/>
              </a:spcAft>
              <a:defRPr sz="1600">
                <a:solidFill>
                  <a:srgbClr val="064E3B"/>
                </a:solidFill>
                <a:latin typeface="Calibri"/>
              </a:defRPr>
            </a:pPr>
            <a:r>
              <a:t>En cas d'erreur réseau, d'API indisponible ou d'absence de jeton HUGGINGFACE_API_TOKEN, le système bascule automatiquement sur un dictionnaire local.</a:t>
            </a:r>
          </a:p>
          <a:p>
            <a:pPr lvl="1">
              <a:spcAft>
                <a:spcPts val="600"/>
              </a:spcAft>
              <a:defRPr sz="1600">
                <a:solidFill>
                  <a:srgbClr val="064E3B"/>
                </a:solidFill>
                <a:latin typeface="Calibri"/>
              </a:defRPr>
            </a:pPr>
            <a:r>
              <a:t>Recherche de mots-clés positifs/négatifs ('excellent', 'delicieux' vs 'mauvais', 'froid', 'lent') pour attribuer un label par défaut sans échec.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6E78"/>
                </a:solidFill>
                <a:latin typeface="Calibri"/>
              </a:defRPr>
            </a:pPr>
            <a:r>
              <a:t>Soutenance PFA - Tastify | 6. Pipeline IA                 Mehdi Diouri &amp; Ibtihal El kherazi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63640"/>
            <a:ext cx="1069848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047857"/>
                </a:solidFill>
                <a:latin typeface="Georgia"/>
              </a:defRPr>
            </a:pPr>
            <a:r>
              <a:t>6. Réalisation : Architecture du Pipeline IA &amp;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064E3B"/>
                </a:solidFill>
                <a:latin typeface="Calibri"/>
              </a:defRPr>
            </a:pPr>
            <a:r>
              <a:t>Flux d'exécution asynchrone (Celery + Redis) :</a:t>
            </a:r>
          </a:p>
          <a:p>
            <a:pPr lvl="1">
              <a:spcAft>
                <a:spcPts val="600"/>
              </a:spcAft>
              <a:defRPr sz="1300">
                <a:solidFill>
                  <a:srgbClr val="064E3B"/>
                </a:solidFill>
                <a:latin typeface="Calibri"/>
              </a:defRPr>
            </a:pPr>
            <a:r>
              <a:t>1. Le client crée un avis -&gt; Enregistrement en base de données.</a:t>
            </a:r>
          </a:p>
          <a:p>
            <a:pPr lvl="1">
              <a:spcAft>
                <a:spcPts val="600"/>
              </a:spcAft>
              <a:defRPr sz="1300">
                <a:solidFill>
                  <a:srgbClr val="064E3B"/>
                </a:solidFill>
                <a:latin typeface="Calibri"/>
              </a:defRPr>
            </a:pPr>
            <a:r>
              <a:t>2. Signal Django déclenché -&gt; Publication d'une tâche Celery asynchrone.</a:t>
            </a:r>
          </a:p>
          <a:p>
            <a:pPr lvl="1">
              <a:spcAft>
                <a:spcPts val="600"/>
              </a:spcAft>
              <a:defRPr sz="1300">
                <a:solidFill>
                  <a:srgbClr val="064E3B"/>
                </a:solidFill>
                <a:latin typeface="Calibri"/>
              </a:defRPr>
            </a:pPr>
            <a:r>
              <a:t>3. Celery Worker prend la tâche -&gt; Inférence via API Hugging Face ou fallback local.</a:t>
            </a:r>
          </a:p>
          <a:p>
            <a:pPr lvl="1">
              <a:spcAft>
                <a:spcPts val="600"/>
              </a:spcAft>
              <a:defRPr sz="1300">
                <a:solidFill>
                  <a:srgbClr val="064E3B"/>
                </a:solidFill>
                <a:latin typeface="Calibri"/>
              </a:defRPr>
            </a:pPr>
            <a:r>
              <a:t>4. Normalisation et mise à jour de la table AnalyseSentiment.</a:t>
            </a:r>
          </a:p>
          <a:p>
            <a:pPr lvl="1">
              <a:spcAft>
                <a:spcPts val="600"/>
              </a:spcAft>
              <a:defRPr sz="1300">
                <a:solidFill>
                  <a:srgbClr val="064E3B"/>
                </a:solidFill>
                <a:latin typeface="Calibri"/>
              </a:defRPr>
            </a:pPr>
            <a:r>
              <a:t>5. Les indicateurs du dashboard gérant intègrent le sentiment en temps réel.</a:t>
            </a:r>
          </a:p>
          <a:p>
            <a:pPr>
              <a:spcAft>
                <a:spcPts val="1200"/>
              </a:spcAft>
              <a:defRPr sz="1500">
                <a:solidFill>
                  <a:srgbClr val="064E3B"/>
                </a:solidFill>
                <a:latin typeface="Calibri"/>
              </a:defRPr>
            </a:pPr>
            <a:r>
              <a:t>Validation par tests unitaires :</a:t>
            </a:r>
          </a:p>
          <a:p>
            <a:pPr lvl="1">
              <a:spcAft>
                <a:spcPts val="600"/>
              </a:spcAft>
              <a:defRPr sz="1300">
                <a:solidFill>
                  <a:srgbClr val="064E3B"/>
                </a:solidFill>
                <a:latin typeface="Calibri"/>
              </a:defRPr>
            </a:pPr>
            <a:r>
              <a:t>Tests automatisés dans pytest (apps.avis.tests) vérifiant le traitement des avis multilingues et le bon fonctionnement du fallback.</a:t>
            </a:r>
          </a:p>
        </p:txBody>
      </p:sp>
      <p:pic>
        <p:nvPicPr>
          <p:cNvPr id="4" name="Picture 3" descr="capture_avis_senti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5029200" cy="3143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6E78"/>
                </a:solidFill>
                <a:latin typeface="Calibri"/>
              </a:defRPr>
            </a:pPr>
            <a:r>
              <a:t>Soutenance PFA - Tastify | 6. Pipeline IA                 Mehdi Diouri &amp; Ibtihal El kherazi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63640"/>
            <a:ext cx="1069848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047857"/>
                </a:solidFill>
                <a:latin typeface="Georgia"/>
              </a:defRPr>
            </a:pPr>
            <a:r>
              <a:t>7. Modèles de Deep Learning Utilisés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1206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64E3B"/>
                </a:solidFill>
                <a:latin typeface="Calibri"/>
              </a:defRPr>
            </a:pPr>
            <a:r>
              <a:t>Architecture BERT (Multilingual) :</a:t>
            </a:r>
          </a:p>
          <a:p>
            <a:pPr lvl="1">
              <a:spcAft>
                <a:spcPts val="600"/>
              </a:spcAft>
              <a:defRPr sz="1600">
                <a:solidFill>
                  <a:srgbClr val="064E3B"/>
                </a:solidFill>
                <a:latin typeface="Calibri"/>
              </a:defRPr>
            </a:pPr>
            <a:r>
              <a:t>Base : Bidirectional Encoder Representations from Transformers.</a:t>
            </a:r>
          </a:p>
          <a:p>
            <a:pPr lvl="1">
              <a:spcAft>
                <a:spcPts val="600"/>
              </a:spcAft>
              <a:defRPr sz="1600">
                <a:solidFill>
                  <a:srgbClr val="064E3B"/>
                </a:solidFill>
                <a:latin typeface="Calibri"/>
              </a:defRPr>
            </a:pPr>
            <a:r>
              <a:t>Bidirectionnalité : Analyse le contexte d'un mot à gauche et à droite simultanément.</a:t>
            </a:r>
          </a:p>
          <a:p>
            <a:pPr lvl="1">
              <a:spcAft>
                <a:spcPts val="600"/>
              </a:spcAft>
              <a:defRPr sz="1600">
                <a:solidFill>
                  <a:srgbClr val="064E3B"/>
                </a:solidFill>
                <a:latin typeface="Calibri"/>
              </a:defRPr>
            </a:pPr>
            <a:r>
              <a:t>Avantage : Saisit le sens réel des adjectifs au sein d'une phrase complexe (ex: 'pas mauvais du tout').</a:t>
            </a:r>
          </a:p>
          <a:p>
            <a:pPr lvl="1">
              <a:spcAft>
                <a:spcPts val="600"/>
              </a:spcAft>
              <a:defRPr sz="1600">
                <a:solidFill>
                  <a:srgbClr val="064E3B"/>
                </a:solidFill>
                <a:latin typeface="Calibri"/>
              </a:defRPr>
            </a:pPr>
            <a:r>
              <a:t>NLP Town fine-tuning : Spécialisé sur les avis de type e-commerce ou restauration (1 à 5 étoiles).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645920"/>
            <a:ext cx="51206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64E3B"/>
                </a:solidFill>
                <a:latin typeface="Calibri"/>
              </a:defRPr>
            </a:pPr>
            <a:r>
              <a:t>Architecture MARBERT (Arabe/Darija) :</a:t>
            </a:r>
          </a:p>
          <a:p>
            <a:pPr lvl="1">
              <a:spcAft>
                <a:spcPts val="600"/>
              </a:spcAft>
              <a:defRPr sz="1600">
                <a:solidFill>
                  <a:srgbClr val="064E3B"/>
                </a:solidFill>
                <a:latin typeface="Calibri"/>
              </a:defRPr>
            </a:pPr>
            <a:r>
              <a:t>Conçu pour l'arabe classique (MSA) et le dialecte (Darija/arabe marocain).</a:t>
            </a:r>
          </a:p>
          <a:p>
            <a:pPr lvl="1">
              <a:spcAft>
                <a:spcPts val="600"/>
              </a:spcAft>
              <a:defRPr sz="1600">
                <a:solidFill>
                  <a:srgbClr val="064E3B"/>
                </a:solidFill>
                <a:latin typeface="Calibri"/>
              </a:defRPr>
            </a:pPr>
            <a:r>
              <a:t>Entraînement sur un jeu géant de tweets et de retours réseaux sociaux arabes.</a:t>
            </a:r>
          </a:p>
          <a:p>
            <a:pPr lvl="1">
              <a:spcAft>
                <a:spcPts val="600"/>
              </a:spcAft>
              <a:defRPr sz="1600">
                <a:solidFill>
                  <a:srgbClr val="064E3B"/>
                </a:solidFill>
                <a:latin typeface="Calibri"/>
              </a:defRPr>
            </a:pPr>
            <a:r>
              <a:t>Pourquoi ce modèle ? Les modèles multilingues génériques échouent à comprendre les dialectes marocains (Darija) écrits en lettres arabes ou latines. MARBERT comble cette lacune majeure pour un restaurant marocain.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6E78"/>
                </a:solidFill>
                <a:latin typeface="Calibri"/>
              </a:defRPr>
            </a:pPr>
            <a:r>
              <a:t>Soutenance PFA - Tastify | 7. Modèles Deep Learning                 Mehdi Diouri &amp; Ibtihal El kherazi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63640"/>
            <a:ext cx="1069848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047857"/>
                </a:solidFill>
                <a:latin typeface="Georgia"/>
              </a:defRPr>
            </a:pPr>
            <a:r>
              <a:t>8. Comparaison des Résultats : Métriques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725912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4952"/>
                <a:gridCol w="2011680"/>
                <a:gridCol w="1371600"/>
                <a:gridCol w="1371600"/>
                <a:gridCol w="1371600"/>
                <a:gridCol w="1554480"/>
              </a:tblGrid>
              <a:tr h="585216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Approche / Modèle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Langues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64E3B"/>
                          </a:solidFill>
                          <a:latin typeface="Calibri"/>
                        </a:defRPr>
                      </a:pPr>
                      <a:r>
                        <a:t>Fallback (Mots-clés locaux)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64E3B"/>
                          </a:solidFill>
                          <a:latin typeface="Calibri"/>
                        </a:defRPr>
                      </a:pPr>
                      <a:r>
                        <a:t>FR / EN / AR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64E3B"/>
                          </a:solidFill>
                          <a:latin typeface="Calibri"/>
                        </a:defRPr>
                      </a:pPr>
                      <a:r>
                        <a:t>65.0%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64E3B"/>
                          </a:solidFill>
                          <a:latin typeface="Calibri"/>
                        </a:defRPr>
                      </a:pPr>
                      <a:r>
                        <a:t>60.0%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64E3B"/>
                          </a:solidFill>
                          <a:latin typeface="Calibri"/>
                        </a:defRPr>
                      </a:pPr>
                      <a:r>
                        <a:t>55.0%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64E3B"/>
                          </a:solidFill>
                          <a:latin typeface="Calibri"/>
                        </a:defRPr>
                      </a:pPr>
                      <a:r>
                        <a:t>57.4%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64E3B"/>
                          </a:solidFill>
                          <a:latin typeface="Calibri"/>
                        </a:defRPr>
                      </a:pPr>
                      <a:r>
                        <a:t>DistilCamemBERT Sentiment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64E3B"/>
                          </a:solidFill>
                          <a:latin typeface="Calibri"/>
                        </a:defRPr>
                      </a:pPr>
                      <a:r>
                        <a:t>Français uniquement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64E3B"/>
                          </a:solidFill>
                          <a:latin typeface="Calibri"/>
                        </a:defRPr>
                      </a:pPr>
                      <a:r>
                        <a:t>88.2%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64E3B"/>
                          </a:solidFill>
                          <a:latin typeface="Calibri"/>
                        </a:defRPr>
                      </a:pPr>
                      <a:r>
                        <a:t>87.5%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64E3B"/>
                          </a:solidFill>
                          <a:latin typeface="Calibri"/>
                        </a:defRPr>
                      </a:pPr>
                      <a:r>
                        <a:t>88.0%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64E3B"/>
                          </a:solidFill>
                          <a:latin typeface="Calibri"/>
                        </a:defRPr>
                      </a:pPr>
                      <a:r>
                        <a:t>87.7%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64E3B"/>
                          </a:solidFill>
                          <a:latin typeface="Calibri"/>
                        </a:defRPr>
                      </a:pPr>
                      <a:r>
                        <a:t>Multilingual BERT (Retenu)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64E3B"/>
                          </a:solidFill>
                          <a:latin typeface="Calibri"/>
                        </a:defRPr>
                      </a:pPr>
                      <a:r>
                        <a:t>FR / EN / ES / IT / DE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64E3B"/>
                          </a:solidFill>
                          <a:latin typeface="Calibri"/>
                        </a:defRPr>
                      </a:pPr>
                      <a:r>
                        <a:t>85.4%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64E3B"/>
                          </a:solidFill>
                          <a:latin typeface="Calibri"/>
                        </a:defRPr>
                      </a:pPr>
                      <a:r>
                        <a:t>84.2%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64E3B"/>
                          </a:solidFill>
                          <a:latin typeface="Calibri"/>
                        </a:defRPr>
                      </a:pPr>
                      <a:r>
                        <a:t>85.0%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64E3B"/>
                          </a:solidFill>
                          <a:latin typeface="Calibri"/>
                        </a:defRPr>
                      </a:pPr>
                      <a:r>
                        <a:t>84.6%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64E3B"/>
                          </a:solidFill>
                          <a:latin typeface="Calibri"/>
                        </a:defRPr>
                      </a:pPr>
                      <a:r>
                        <a:t>MARBERT Sentiment (Retenu)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64E3B"/>
                          </a:solidFill>
                          <a:latin typeface="Calibri"/>
                        </a:defRPr>
                      </a:pPr>
                      <a:r>
                        <a:t>Arabe / Darija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64E3B"/>
                          </a:solidFill>
                          <a:latin typeface="Calibri"/>
                        </a:defRPr>
                      </a:pPr>
                      <a:r>
                        <a:t>82.1%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64E3B"/>
                          </a:solidFill>
                          <a:latin typeface="Calibri"/>
                        </a:defRPr>
                      </a:pPr>
                      <a:r>
                        <a:t>81.0%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64E3B"/>
                          </a:solidFill>
                          <a:latin typeface="Calibri"/>
                        </a:defRPr>
                      </a:pPr>
                      <a:r>
                        <a:t>82.0%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64E3B"/>
                          </a:solidFill>
                          <a:latin typeface="Calibri"/>
                        </a:defRPr>
                      </a:pPr>
                      <a:r>
                        <a:t>81.5%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663440"/>
            <a:ext cx="106984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064E3B"/>
                </a:solidFill>
                <a:latin typeface="Calibri"/>
              </a:defRPr>
            </a:pPr>
            <a:r>
              <a:t>Analyse comparative des métriques :</a:t>
            </a:r>
          </a:p>
          <a:p>
            <a:pPr lvl="1">
              <a:spcAft>
                <a:spcPts val="600"/>
              </a:spcAft>
              <a:defRPr sz="1200">
                <a:solidFill>
                  <a:srgbClr val="064E3B"/>
                </a:solidFill>
                <a:latin typeface="Calibri"/>
              </a:defRPr>
            </a:pPr>
            <a:r>
              <a:t>Le dictionnaire local (Fallback) présente des performances modestes (F1=57%), car il est incapable de gérer les négations ('pas bon') et l'ironie.</a:t>
            </a:r>
          </a:p>
          <a:p>
            <a:pPr lvl="1">
              <a:spcAft>
                <a:spcPts val="600"/>
              </a:spcAft>
              <a:defRPr sz="1200">
                <a:solidFill>
                  <a:srgbClr val="064E3B"/>
                </a:solidFill>
                <a:latin typeface="Calibri"/>
              </a:defRPr>
            </a:pPr>
            <a:r>
              <a:t>DistilCamemBERT obtient la meilleure précision en français pur (88.2%), mais reste totalement inefficace pour les avis en arabe ou les textes multilingues.</a:t>
            </a:r>
          </a:p>
          <a:p>
            <a:pPr lvl="1">
              <a:spcAft>
                <a:spcPts val="600"/>
              </a:spcAft>
              <a:defRPr sz="1200">
                <a:solidFill>
                  <a:srgbClr val="064E3B"/>
                </a:solidFill>
                <a:latin typeface="Calibri"/>
              </a:defRPr>
            </a:pPr>
            <a:r>
              <a:t>Le choix de coupler Multilingual BERT (FR/EN) et MARBERT (Arabe) offre le meilleur compromis de couverture linguistique et de robustesse globale pour le marché marocain.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6E78"/>
                </a:solidFill>
                <a:latin typeface="Calibri"/>
              </a:defRPr>
            </a:pPr>
            <a:r>
              <a:t>Soutenance PFA - Tastify | 8. Métriques d'évaluation                 Mehdi Diouri &amp; Ibtihal El kherazi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63640"/>
            <a:ext cx="1069848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047857"/>
                </a:solidFill>
                <a:latin typeface="Georgia"/>
              </a:defRPr>
            </a:pPr>
            <a:r>
              <a:t>8. Matrice de Confusion (Pipeline Hybride)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103120"/>
                <a:gridCol w="2103120"/>
                <a:gridCol w="2103120"/>
                <a:gridCol w="2103120"/>
              </a:tblGrid>
              <a:tr h="585216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Réel \ Prédit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POSITIF (Prédit)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NEUTRE (Prédit)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NEGATIF (Prédit)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Total Réel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64E3B"/>
                          </a:solidFill>
                          <a:latin typeface="Calibri"/>
                        </a:defRPr>
                      </a:pPr>
                      <a:r>
                        <a:t>POSITIF (Réel)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64E3B"/>
                          </a:solidFill>
                          <a:latin typeface="Calibri"/>
                        </a:defRPr>
                      </a:pPr>
                      <a:r>
                        <a:t>52 (Vrais Positifs)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64E3B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64E3B"/>
                          </a:solidFill>
                          <a:latin typeface="Calibri"/>
                        </a:defRPr>
                      </a:pPr>
                      <a:r>
                        <a:t>0 (Faux Négatif extrême)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64E3B"/>
                          </a:solidFill>
                          <a:latin typeface="Calibri"/>
                        </a:defRPr>
                      </a:pPr>
                      <a:r>
                        <a:t>55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64E3B"/>
                          </a:solidFill>
                          <a:latin typeface="Calibri"/>
                        </a:defRPr>
                      </a:pPr>
                      <a:r>
                        <a:t>NEUTRE (Réel)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64E3B"/>
                          </a:solidFill>
                          <a:latin typeface="Calibri"/>
                        </a:defRPr>
                      </a:pPr>
                      <a:r>
                        <a:t>2 (Faux Positif)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64E3B"/>
                          </a:solidFill>
                          <a:latin typeface="Calibri"/>
                        </a:defRPr>
                      </a:pPr>
                      <a:r>
                        <a:t>10 (Vrais Neutres)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64E3B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64E3B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64E3B"/>
                          </a:solidFill>
                          <a:latin typeface="Calibri"/>
                        </a:defRPr>
                      </a:pPr>
                      <a:r>
                        <a:t>NEGATIF (Réel)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64E3B"/>
                          </a:solidFill>
                          <a:latin typeface="Calibri"/>
                        </a:defRPr>
                      </a:pPr>
                      <a:r>
                        <a:t>2 (Faux Positif)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64E3B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64E3B"/>
                          </a:solidFill>
                          <a:latin typeface="Calibri"/>
                        </a:defRPr>
                      </a:pPr>
                      <a:r>
                        <a:t>26 (Vrais Négatifs)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64E3B"/>
                          </a:solidFill>
                          <a:latin typeface="Calibri"/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64E3B"/>
                          </a:solidFill>
                          <a:latin typeface="Calibri"/>
                        </a:defRPr>
                      </a:pPr>
                      <a:r>
                        <a:t>Total Prédit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64E3B"/>
                          </a:solidFill>
                          <a:latin typeface="Calibri"/>
                        </a:defRPr>
                      </a:pPr>
                      <a:r>
                        <a:t>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64E3B"/>
                          </a:solidFill>
                          <a:latin typeface="Calibri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64E3B"/>
                          </a:solidFill>
                          <a:latin typeface="Calibri"/>
                        </a:defRPr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64E3B"/>
                          </a:solidFill>
                          <a:latin typeface="Calibri"/>
                        </a:defRPr>
                      </a:pPr>
                      <a:r>
                        <a:t>100 (Échantillon)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663440"/>
            <a:ext cx="106984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064E3B"/>
                </a:solidFill>
                <a:latin typeface="Calibri"/>
              </a:defRPr>
            </a:pPr>
            <a:r>
              <a:t>Analyse de la matrice de confusion sur 100 avis de validation annotés :</a:t>
            </a:r>
          </a:p>
          <a:p>
            <a:pPr lvl="1">
              <a:spcAft>
                <a:spcPts val="600"/>
              </a:spcAft>
              <a:defRPr sz="1200">
                <a:solidFill>
                  <a:srgbClr val="064E3B"/>
                </a:solidFill>
                <a:latin typeface="Calibri"/>
              </a:defRPr>
            </a:pPr>
            <a:r>
              <a:t>Diagonale forte : Bon taux de prédiction globale (88 vrais positifs/neutres/négatifs au total).</a:t>
            </a:r>
          </a:p>
          <a:p>
            <a:pPr lvl="1">
              <a:spcAft>
                <a:spcPts val="600"/>
              </a:spcAft>
              <a:defRPr sz="1200">
                <a:solidFill>
                  <a:srgbClr val="064E3B"/>
                </a:solidFill>
                <a:latin typeface="Calibri"/>
              </a:defRPr>
            </a:pPr>
            <a:r>
              <a:t>Faux positifs limités (4 avis neutres/négatifs classés positifs) : Évite de masquer de fausses alertes importantes pour le gérant.</a:t>
            </a:r>
          </a:p>
          <a:p>
            <a:pPr lvl="1">
              <a:spcAft>
                <a:spcPts val="600"/>
              </a:spcAft>
              <a:defRPr sz="1200">
                <a:solidFill>
                  <a:srgbClr val="064E3B"/>
                </a:solidFill>
                <a:latin typeface="Calibri"/>
              </a:defRPr>
            </a:pPr>
            <a:r>
              <a:t>Faux négatifs modérés : 3 avis positifs classés neutres (souvent des tournures mitigées : 'le repas était bon mais l'attente un peu longue').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6E78"/>
                </a:solidFill>
                <a:latin typeface="Calibri"/>
              </a:defRPr>
            </a:pPr>
            <a:r>
              <a:t>Soutenance PFA - Tastify | 8. Métriques d'évaluation                 Mehdi Diouri &amp; Ibtihal El kherazi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63640"/>
            <a:ext cx="1069848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047857"/>
                </a:solidFill>
                <a:latin typeface="Georgia"/>
              </a:defRPr>
            </a:pPr>
            <a:r>
              <a:t>9. Défis rencontrés &amp;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64E3B"/>
                </a:solidFill>
                <a:latin typeface="Calibri"/>
              </a:defRPr>
            </a:pPr>
            <a:r>
              <a:t>1. Synchronisation temps réel robuste (Salle-Cuisine) :</a:t>
            </a:r>
          </a:p>
          <a:p>
            <a:pPr lvl="1">
              <a:spcAft>
                <a:spcPts val="600"/>
              </a:spcAft>
              <a:defRPr sz="1600">
                <a:solidFill>
                  <a:srgbClr val="064E3B"/>
                </a:solidFill>
                <a:latin typeface="Calibri"/>
              </a:defRPr>
            </a:pPr>
            <a:r>
              <a:t>Défi : Risques de déconnexions réseau intempestives et blocage de l'écran KDS.</a:t>
            </a:r>
          </a:p>
          <a:p>
            <a:pPr lvl="1">
              <a:spcAft>
                <a:spcPts val="600"/>
              </a:spcAft>
              <a:defRPr sz="1600">
                <a:solidFill>
                  <a:srgbClr val="064E3B"/>
                </a:solidFill>
                <a:latin typeface="Calibri"/>
              </a:defRPr>
            </a:pPr>
            <a:r>
              <a:t>Solution : Implémentation d'une reconnexion automatique avec backoff exponentiel côté React, gérée par un WebSocketProvider globale.</a:t>
            </a:r>
          </a:p>
          <a:p>
            <a:pPr>
              <a:spcAft>
                <a:spcPts val="1200"/>
              </a:spcAft>
              <a:defRPr sz="1800">
                <a:solidFill>
                  <a:srgbClr val="064E3B"/>
                </a:solidFill>
                <a:latin typeface="Calibri"/>
              </a:defRPr>
            </a:pPr>
            <a:r>
              <a:t>2. Conflits d'authentification JWT et cookies de session :</a:t>
            </a:r>
          </a:p>
          <a:p>
            <a:pPr lvl="1">
              <a:spcAft>
                <a:spcPts val="600"/>
              </a:spcAft>
              <a:defRPr sz="1600">
                <a:solidFill>
                  <a:srgbClr val="064E3B"/>
                </a:solidFill>
                <a:latin typeface="Calibri"/>
              </a:defRPr>
            </a:pPr>
            <a:r>
              <a:t>Défi : L'ouverture d'une session sur le portail client écrasait la session staff en raison du partage de domaine locale.</a:t>
            </a:r>
          </a:p>
          <a:p>
            <a:pPr lvl="1">
              <a:spcAft>
                <a:spcPts val="600"/>
              </a:spcAft>
              <a:defRPr sz="1600">
                <a:solidFill>
                  <a:srgbClr val="064E3B"/>
                </a:solidFill>
                <a:latin typeface="Calibri"/>
              </a:defRPr>
            </a:pPr>
            <a:r>
              <a:t>Solution : Séparation des contextes dans Zustand (Zustand key namespaces) et émission de cookies de refresh distincts.</a:t>
            </a:r>
          </a:p>
          <a:p>
            <a:pPr>
              <a:spcAft>
                <a:spcPts val="1200"/>
              </a:spcAft>
              <a:defRPr sz="1800">
                <a:solidFill>
                  <a:srgbClr val="064E3B"/>
                </a:solidFill>
                <a:latin typeface="Calibri"/>
              </a:defRPr>
            </a:pPr>
            <a:r>
              <a:t>3. Latence réseau de l'IA (Appel API Hugging Face) :</a:t>
            </a:r>
          </a:p>
          <a:p>
            <a:pPr lvl="1">
              <a:spcAft>
                <a:spcPts val="600"/>
              </a:spcAft>
              <a:defRPr sz="1600">
                <a:solidFill>
                  <a:srgbClr val="064E3B"/>
                </a:solidFill>
                <a:latin typeface="Calibri"/>
              </a:defRPr>
            </a:pPr>
            <a:r>
              <a:t>Défi : Temps d'inférence variable pouvant bloquer l'expérience utilisateur.</a:t>
            </a:r>
          </a:p>
          <a:p>
            <a:pPr lvl="1">
              <a:spcAft>
                <a:spcPts val="600"/>
              </a:spcAft>
              <a:defRPr sz="1600">
                <a:solidFill>
                  <a:srgbClr val="064E3B"/>
                </a:solidFill>
                <a:latin typeface="Calibri"/>
              </a:defRPr>
            </a:pPr>
            <a:r>
              <a:t>Solution : Traitement déporté asynchrone (Celery + Redis) combiné à un dictionnaire local de secours immédiat en cas de coupure réseau.</a:t>
            </a:r>
          </a:p>
          <a:p>
            <a:pPr>
              <a:spcAft>
                <a:spcPts val="1200"/>
              </a:spcAft>
              <a:defRPr sz="1800">
                <a:solidFill>
                  <a:srgbClr val="064E3B"/>
                </a:solidFill>
                <a:latin typeface="Calibri"/>
              </a:defRPr>
            </a:pPr>
            <a:r>
              <a:t>4. Organisation et intégration continue :</a:t>
            </a:r>
          </a:p>
          <a:p>
            <a:pPr lvl="1">
              <a:spcAft>
                <a:spcPts val="600"/>
              </a:spcAft>
              <a:defRPr sz="1600">
                <a:solidFill>
                  <a:srgbClr val="064E3B"/>
                </a:solidFill>
                <a:latin typeface="Calibri"/>
              </a:defRPr>
            </a:pPr>
            <a:r>
              <a:t>Défi : Maintenir la cohérence entre les modifications du backend, des frontends et la base de données de test.</a:t>
            </a:r>
          </a:p>
          <a:p>
            <a:pPr lvl="1">
              <a:spcAft>
                <a:spcPts val="600"/>
              </a:spcAft>
              <a:defRPr sz="1600">
                <a:solidFill>
                  <a:srgbClr val="064E3B"/>
                </a:solidFill>
                <a:latin typeface="Calibri"/>
              </a:defRPr>
            </a:pPr>
            <a:r>
              <a:t>Solution : Déploiement CI/CD Dockerisé avec exécution automatique de pytest, Vitest et Playwright (335 tests backend réussis).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6E78"/>
                </a:solidFill>
                <a:latin typeface="Calibri"/>
              </a:defRPr>
            </a:pPr>
            <a:r>
              <a:t>Soutenance PFA - Tastify | 9. Défis rencontrés                 Mehdi Diouri &amp; Ibtihal El kherazi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63640"/>
            <a:ext cx="1069848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4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A7F3D0"/>
                </a:solidFill>
                <a:latin typeface="Georgia"/>
              </a:defRPr>
            </a:pPr>
            <a:r>
              <a:t>10. Conclusion &amp; Bilan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Un ERP fonctionnel complet pour la restauration :</a:t>
            </a:r>
          </a:p>
          <a:p>
            <a:pPr lvl="1"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Tastify répond avec succès aux problématiques de centralisation et d'optimisation des flux d'un restaurant marocain.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Une validation rigoureuse et mesurable :</a:t>
            </a:r>
          </a:p>
          <a:p>
            <a:pPr lvl="1"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335 tests de non-régression backend Django opérationnels (pytest).</a:t>
            </a:r>
          </a:p>
          <a:p>
            <a:pPr lvl="1"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29 tests unitaires frontend réussis (Vitest) et 79 scénarios de bout en bout validés (Playwright).</a:t>
            </a:r>
          </a:p>
          <a:p>
            <a:pPr lvl="1"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Orchestration Docker Compose stable pour un déploiement local ou serveur (Unraid).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Intégration réussie de l'intelligence artificielle :</a:t>
            </a:r>
          </a:p>
          <a:p>
            <a:pPr lvl="1"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Le pipeline d'analyse de sentiment asynchrone fournit une valeur ajoutée métier claire et exploitable dans les tableaux de bord analytiques du restaurant.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6E78"/>
                </a:solidFill>
                <a:latin typeface="Calibri"/>
              </a:defRPr>
            </a:pPr>
            <a:r>
              <a:t>Soutenance PFA - Tastify (Bilan) | 10. Conclusion                 Mehdi Diouri &amp; Ibtihal El kherazi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63640"/>
            <a:ext cx="1069848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047857"/>
                </a:solidFill>
                <a:latin typeface="Georgia"/>
              </a:defRPr>
            </a:pPr>
            <a:r>
              <a:t>10. Perspectives d'Évolution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64E3B"/>
                </a:solidFill>
                <a:latin typeface="Calibri"/>
              </a:defRPr>
            </a:pPr>
            <a:r>
              <a:t>Modèle de Sentiment Local Léger :</a:t>
            </a:r>
          </a:p>
          <a:p>
            <a:pPr lvl="1">
              <a:spcAft>
                <a:spcPts val="600"/>
              </a:spcAft>
              <a:defRPr sz="1600">
                <a:solidFill>
                  <a:srgbClr val="064E3B"/>
                </a:solidFill>
                <a:latin typeface="Calibri"/>
              </a:defRPr>
            </a:pPr>
            <a:r>
              <a:t>Remplacer ou compléter le fallback actuel par un classifieur statistique local léger (TF-IDF + classifieur linéaire ou SVM) pour éliminer la dépendance aux API distantes.</a:t>
            </a:r>
          </a:p>
          <a:p>
            <a:pPr>
              <a:spcAft>
                <a:spcPts val="1200"/>
              </a:spcAft>
              <a:defRPr sz="1800">
                <a:solidFill>
                  <a:srgbClr val="064E3B"/>
                </a:solidFill>
                <a:latin typeface="Calibri"/>
              </a:defRPr>
            </a:pPr>
            <a:r>
              <a:t>Indicateur Métier Combiné :</a:t>
            </a:r>
          </a:p>
          <a:p>
            <a:pPr lvl="1">
              <a:spcAft>
                <a:spcPts val="600"/>
              </a:spcAft>
              <a:defRPr sz="1600">
                <a:solidFill>
                  <a:srgbClr val="064E3B"/>
                </a:solidFill>
                <a:latin typeface="Calibri"/>
              </a:defRPr>
            </a:pPr>
            <a:r>
              <a:t>Fusionner la note étoilée (1 à 5) et le texte d'avis pour fiabiliser la détection des sentiments complexes (sarcasmes ou avis mitigés).</a:t>
            </a:r>
          </a:p>
          <a:p>
            <a:pPr>
              <a:spcAft>
                <a:spcPts val="1200"/>
              </a:spcAft>
              <a:defRPr sz="1800">
                <a:solidFill>
                  <a:srgbClr val="064E3B"/>
                </a:solidFill>
                <a:latin typeface="Calibri"/>
              </a:defRPr>
            </a:pPr>
            <a:r>
              <a:t>Système de Recommandation de Plats :</a:t>
            </a:r>
          </a:p>
          <a:p>
            <a:pPr lvl="1">
              <a:spcAft>
                <a:spcPts val="600"/>
              </a:spcAft>
              <a:defRPr sz="1600">
                <a:solidFill>
                  <a:srgbClr val="064E3B"/>
                </a:solidFill>
                <a:latin typeface="Calibri"/>
              </a:defRPr>
            </a:pPr>
            <a:r>
              <a:t>Développer un modèle de recommandation intelligent basé sur l'historique de commande du client, la météo (WeatherData) et la disponibilité des ingrédients en stock.</a:t>
            </a:r>
          </a:p>
          <a:p>
            <a:pPr>
              <a:spcAft>
                <a:spcPts val="1200"/>
              </a:spcAft>
              <a:defRPr sz="1800">
                <a:solidFill>
                  <a:srgbClr val="064E3B"/>
                </a:solidFill>
                <a:latin typeface="Calibri"/>
              </a:defRPr>
            </a:pPr>
            <a:r>
              <a:t>Déploiement Production Avancé :</a:t>
            </a:r>
          </a:p>
          <a:p>
            <a:pPr lvl="1">
              <a:spcAft>
                <a:spcPts val="600"/>
              </a:spcAft>
              <a:defRPr sz="1600">
                <a:solidFill>
                  <a:srgbClr val="064E3B"/>
                </a:solidFill>
                <a:latin typeface="Calibri"/>
              </a:defRPr>
            </a:pPr>
            <a:r>
              <a:t>Consolider l'infrastructure avec le support du HTTPS natif, la rotation automatisée des secrets et un outil de monitoring d'activité (Grafana / Prometheus).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6E78"/>
                </a:solidFill>
                <a:latin typeface="Calibri"/>
              </a:defRPr>
            </a:pPr>
            <a:r>
              <a:t>Soutenance PFA - Tastify | 10. Perspectives                 Mehdi Diouri &amp; Ibtihal El kherazi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63640"/>
            <a:ext cx="1069848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4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A7F3D0"/>
                </a:solidFill>
                <a:latin typeface="Georgia"/>
              </a:defRPr>
            </a:pPr>
            <a:r>
              <a:t>Merci pour votre attention !</a:t>
            </a:r>
          </a:p>
          <a:p>
            <a:pPr algn="ctr">
              <a:spcBef>
                <a:spcPts val="2000"/>
              </a:spcBef>
              <a:defRPr sz="2800">
                <a:solidFill>
                  <a:srgbClr val="FFFFFF"/>
                </a:solidFill>
                <a:latin typeface="Calibri"/>
              </a:defRPr>
            </a:pPr>
            <a:r>
              <a:t>Avez-vous des questions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6E78"/>
                </a:solidFill>
                <a:latin typeface="Calibri"/>
              </a:defRPr>
            </a:pPr>
            <a:r>
              <a:t>Soutenance PFA - Tastify (Fin) | Remerciements                 Mehdi Diouri &amp; Ibtihal El kherazi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63640"/>
            <a:ext cx="1069848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